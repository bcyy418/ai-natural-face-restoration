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Times New Roman" charset="1" panose="020206030504050203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notesMasters/notesMaster1.xml" Type="http://schemas.openxmlformats.org/officeDocument/2006/relationships/notesMaster"/><Relationship Id="rId43" Target="theme/theme2.xml" Type="http://schemas.openxmlformats.org/officeDocument/2006/relationships/theme"/><Relationship Id="rId44" Target="notesSlides/notesSlide1.xml" Type="http://schemas.openxmlformats.org/officeDocument/2006/relationships/notesSlide"/><Relationship Id="rId45" Target="notesSlides/notesSlide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8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33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4.jpeg" Type="http://schemas.openxmlformats.org/officeDocument/2006/relationships/image"/><Relationship Id="rId4" Target="../media/VAG6fxj4yx0.mp4" Type="http://schemas.openxmlformats.org/officeDocument/2006/relationships/video"/><Relationship Id="rId5" Target="../media/VAG6fxj4yx0.mp4" Type="http://schemas.microsoft.com/office/2007/relationships/media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4.jpeg" Type="http://schemas.openxmlformats.org/officeDocument/2006/relationships/image"/><Relationship Id="rId4" Target="../media/VAG6fxj4yx0.mp4" Type="http://schemas.openxmlformats.org/officeDocument/2006/relationships/video"/><Relationship Id="rId5" Target="../media/VAG6fxj4yx0.mp4" Type="http://schemas.microsoft.com/office/2007/relationships/media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17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6.png" Type="http://schemas.openxmlformats.org/officeDocument/2006/relationships/image"/><Relationship Id="rId4" Target="../media/image17.png" Type="http://schemas.openxmlformats.org/officeDocument/2006/relationships/image"/><Relationship Id="rId5" Target="../media/image37.png" Type="http://schemas.openxmlformats.org/officeDocument/2006/relationships/image"/><Relationship Id="rId6" Target="../media/image38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9.jpeg" Type="http://schemas.openxmlformats.org/officeDocument/2006/relationships/image"/><Relationship Id="rId4" Target="../media/VAG6j7QBEW0.mp4" Type="http://schemas.openxmlformats.org/officeDocument/2006/relationships/video"/><Relationship Id="rId5" Target="../media/VAG6j7QBEW0.mp4" Type="http://schemas.microsoft.com/office/2007/relationships/media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yingqichao/retouching_FFHQ_detection" TargetMode="External" Type="http://schemas.openxmlformats.org/officeDocument/2006/relationships/hyperlink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35194" y="-733671"/>
            <a:ext cx="5355572" cy="5877171"/>
          </a:xfrm>
          <a:custGeom>
            <a:avLst/>
            <a:gdLst/>
            <a:ahLst/>
            <a:cxnLst/>
            <a:rect r="r" b="b" t="t" l="l"/>
            <a:pathLst>
              <a:path h="5877171" w="5355572">
                <a:moveTo>
                  <a:pt x="0" y="0"/>
                </a:moveTo>
                <a:lnTo>
                  <a:pt x="5355572" y="0"/>
                </a:lnTo>
                <a:lnTo>
                  <a:pt x="5355572" y="5877171"/>
                </a:lnTo>
                <a:lnTo>
                  <a:pt x="0" y="5877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332582" y="-1537984"/>
            <a:ext cx="6597249" cy="3075967"/>
          </a:xfrm>
          <a:custGeom>
            <a:avLst/>
            <a:gdLst/>
            <a:ahLst/>
            <a:cxnLst/>
            <a:rect r="r" b="b" t="t" l="l"/>
            <a:pathLst>
              <a:path h="3075967" w="6597249">
                <a:moveTo>
                  <a:pt x="0" y="0"/>
                </a:moveTo>
                <a:lnTo>
                  <a:pt x="6597249" y="0"/>
                </a:lnTo>
                <a:lnTo>
                  <a:pt x="6597249" y="3075968"/>
                </a:lnTo>
                <a:lnTo>
                  <a:pt x="0" y="3075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29831" y="2362275"/>
            <a:ext cx="7499556" cy="4199751"/>
          </a:xfrm>
          <a:custGeom>
            <a:avLst/>
            <a:gdLst/>
            <a:ahLst/>
            <a:cxnLst/>
            <a:rect r="r" b="b" t="t" l="l"/>
            <a:pathLst>
              <a:path h="4199751" w="7499556">
                <a:moveTo>
                  <a:pt x="0" y="0"/>
                </a:moveTo>
                <a:lnTo>
                  <a:pt x="7499556" y="0"/>
                </a:lnTo>
                <a:lnTo>
                  <a:pt x="7499556" y="4199751"/>
                </a:lnTo>
                <a:lnTo>
                  <a:pt x="0" y="4199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36415" y="6352306"/>
            <a:ext cx="5059689" cy="5741491"/>
          </a:xfrm>
          <a:custGeom>
            <a:avLst/>
            <a:gdLst/>
            <a:ahLst/>
            <a:cxnLst/>
            <a:rect r="r" b="b" t="t" l="l"/>
            <a:pathLst>
              <a:path h="5741491" w="5059689">
                <a:moveTo>
                  <a:pt x="0" y="0"/>
                </a:moveTo>
                <a:lnTo>
                  <a:pt x="5059688" y="0"/>
                </a:lnTo>
                <a:lnTo>
                  <a:pt x="5059688" y="5741490"/>
                </a:lnTo>
                <a:lnTo>
                  <a:pt x="0" y="5741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52436" y="-1865322"/>
            <a:ext cx="6150745" cy="5766324"/>
          </a:xfrm>
          <a:custGeom>
            <a:avLst/>
            <a:gdLst/>
            <a:ahLst/>
            <a:cxnLst/>
            <a:rect r="r" b="b" t="t" l="l"/>
            <a:pathLst>
              <a:path h="5766324" w="6150745">
                <a:moveTo>
                  <a:pt x="0" y="0"/>
                </a:moveTo>
                <a:lnTo>
                  <a:pt x="6150746" y="0"/>
                </a:lnTo>
                <a:lnTo>
                  <a:pt x="6150746" y="5766323"/>
                </a:lnTo>
                <a:lnTo>
                  <a:pt x="0" y="5766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511658" y="-3227374"/>
            <a:ext cx="4085368" cy="5586827"/>
          </a:xfrm>
          <a:custGeom>
            <a:avLst/>
            <a:gdLst/>
            <a:ahLst/>
            <a:cxnLst/>
            <a:rect r="r" b="b" t="t" l="l"/>
            <a:pathLst>
              <a:path h="5586827" w="4085368">
                <a:moveTo>
                  <a:pt x="0" y="0"/>
                </a:moveTo>
                <a:lnTo>
                  <a:pt x="4085367" y="0"/>
                </a:lnTo>
                <a:lnTo>
                  <a:pt x="4085367" y="5586827"/>
                </a:lnTo>
                <a:lnTo>
                  <a:pt x="0" y="55868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93830" y="5310391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8" y="0"/>
                </a:lnTo>
                <a:lnTo>
                  <a:pt x="4667958" y="6941201"/>
                </a:lnTo>
                <a:lnTo>
                  <a:pt x="0" y="69412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836415" y="3901001"/>
            <a:ext cx="4656793" cy="5322050"/>
          </a:xfrm>
          <a:custGeom>
            <a:avLst/>
            <a:gdLst/>
            <a:ahLst/>
            <a:cxnLst/>
            <a:rect r="r" b="b" t="t" l="l"/>
            <a:pathLst>
              <a:path h="5322050" w="4656793">
                <a:moveTo>
                  <a:pt x="0" y="0"/>
                </a:moveTo>
                <a:lnTo>
                  <a:pt x="4656793" y="0"/>
                </a:lnTo>
                <a:lnTo>
                  <a:pt x="4656793" y="5322050"/>
                </a:lnTo>
                <a:lnTo>
                  <a:pt x="0" y="53220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31207" y="8338429"/>
            <a:ext cx="4656793" cy="5322050"/>
          </a:xfrm>
          <a:custGeom>
            <a:avLst/>
            <a:gdLst/>
            <a:ahLst/>
            <a:cxnLst/>
            <a:rect r="r" b="b" t="t" l="l"/>
            <a:pathLst>
              <a:path h="5322050" w="4656793">
                <a:moveTo>
                  <a:pt x="0" y="0"/>
                </a:moveTo>
                <a:lnTo>
                  <a:pt x="4656793" y="0"/>
                </a:lnTo>
                <a:lnTo>
                  <a:pt x="4656793" y="5322049"/>
                </a:lnTo>
                <a:lnTo>
                  <a:pt x="0" y="53220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48023" y="-4053683"/>
            <a:ext cx="6591954" cy="5710280"/>
          </a:xfrm>
          <a:custGeom>
            <a:avLst/>
            <a:gdLst/>
            <a:ahLst/>
            <a:cxnLst/>
            <a:rect r="r" b="b" t="t" l="l"/>
            <a:pathLst>
              <a:path h="5710280" w="6591954">
                <a:moveTo>
                  <a:pt x="0" y="0"/>
                </a:moveTo>
                <a:lnTo>
                  <a:pt x="6591954" y="0"/>
                </a:lnTo>
                <a:lnTo>
                  <a:pt x="6591954" y="5710280"/>
                </a:lnTo>
                <a:lnTo>
                  <a:pt x="0" y="5710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194310">
            <a:off x="8409323" y="7829528"/>
            <a:ext cx="6128048" cy="5913567"/>
          </a:xfrm>
          <a:custGeom>
            <a:avLst/>
            <a:gdLst/>
            <a:ahLst/>
            <a:cxnLst/>
            <a:rect r="r" b="b" t="t" l="l"/>
            <a:pathLst>
              <a:path h="5913567" w="6128048">
                <a:moveTo>
                  <a:pt x="0" y="0"/>
                </a:moveTo>
                <a:lnTo>
                  <a:pt x="6128049" y="0"/>
                </a:lnTo>
                <a:lnTo>
                  <a:pt x="6128049" y="5913566"/>
                </a:lnTo>
                <a:lnTo>
                  <a:pt x="0" y="59135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202696" y="9223051"/>
            <a:ext cx="7941304" cy="4030212"/>
          </a:xfrm>
          <a:custGeom>
            <a:avLst/>
            <a:gdLst/>
            <a:ahLst/>
            <a:cxnLst/>
            <a:rect r="r" b="b" t="t" l="l"/>
            <a:pathLst>
              <a:path h="4030212" w="7941304">
                <a:moveTo>
                  <a:pt x="0" y="0"/>
                </a:moveTo>
                <a:lnTo>
                  <a:pt x="7941304" y="0"/>
                </a:lnTo>
                <a:lnTo>
                  <a:pt x="7941304" y="4030212"/>
                </a:lnTo>
                <a:lnTo>
                  <a:pt x="0" y="40302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5058632" y="8780991"/>
            <a:ext cx="4085368" cy="5586827"/>
          </a:xfrm>
          <a:custGeom>
            <a:avLst/>
            <a:gdLst/>
            <a:ahLst/>
            <a:cxnLst/>
            <a:rect r="r" b="b" t="t" l="l"/>
            <a:pathLst>
              <a:path h="5586827" w="4085368">
                <a:moveTo>
                  <a:pt x="0" y="0"/>
                </a:moveTo>
                <a:lnTo>
                  <a:pt x="4085368" y="0"/>
                </a:lnTo>
                <a:lnTo>
                  <a:pt x="4085368" y="5586828"/>
                </a:lnTo>
                <a:lnTo>
                  <a:pt x="0" y="55868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02724" y="2071564"/>
            <a:ext cx="13682552" cy="623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8000" spc="-4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NTCU-CS-PRJ-115-10</a:t>
            </a:r>
          </a:p>
          <a:p>
            <a:pPr algn="ctr">
              <a:lnSpc>
                <a:spcPts val="10640"/>
              </a:lnSpc>
            </a:pPr>
            <a:r>
              <a:rPr lang="en-US" sz="8000" spc="-4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AI還原自然人像</a:t>
            </a:r>
          </a:p>
          <a:p>
            <a:pPr algn="ctr">
              <a:lnSpc>
                <a:spcPts val="9309"/>
              </a:lnSpc>
            </a:pPr>
            <a:r>
              <a:rPr lang="en-US" sz="6999" spc="-3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指導教授:王讚彬</a:t>
            </a:r>
          </a:p>
          <a:p>
            <a:pPr algn="ctr">
              <a:lnSpc>
                <a:spcPts val="9309"/>
              </a:lnSpc>
            </a:pPr>
            <a:r>
              <a:rPr lang="en-US" sz="6999" spc="-3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組員:黃信哲、楊承諺、黃晉洋</a:t>
            </a:r>
          </a:p>
          <a:p>
            <a:pPr algn="ctr">
              <a:lnSpc>
                <a:spcPts val="930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391389" y="262677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391389" y="425147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391389" y="2626775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4391389" y="346809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6480509" y="261353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6493728" y="348180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6866929" y="266897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866929" y="429367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66929" y="266897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6866929" y="3510293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956048" y="2655740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8969268" y="352400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757956" y="265324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757956" y="4277952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757956" y="265324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757956" y="3494565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3847075" y="2640012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3860294" y="350828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5538689" y="452735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5538689" y="6152060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5538689" y="452735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5538689" y="5368673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7627809" y="4514120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7641028" y="538238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8014229" y="456955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8014229" y="6194261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8014229" y="456955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8014229" y="5410874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0103348" y="4556321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10116568" y="542459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2905256" y="4553830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2905256" y="6178533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2905256" y="4553830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2905256" y="5395146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4994375" y="4540593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V="true">
            <a:off x="5007594" y="5408863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5183644" y="3101239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504832" y="2844296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系統架構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與流程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395859" y="2828568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研究動機與目標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330944" y="4992548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27108" y="4992548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資料來源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761205" y="5001505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結果展示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885825"/>
            <a:ext cx="2279127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目錄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1171822">
            <a:off x="7853583" y="-1405179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5" y="0"/>
                </a:lnTo>
                <a:lnTo>
                  <a:pt x="13970515" y="13097358"/>
                </a:lnTo>
                <a:lnTo>
                  <a:pt x="0" y="13097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19269">
            <a:off x="3039007" y="-8900802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9269">
            <a:off x="2560170" y="4718759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168227" y="341800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28591" y="3503370"/>
            <a:ext cx="3085034" cy="1665918"/>
          </a:xfrm>
          <a:custGeom>
            <a:avLst/>
            <a:gdLst/>
            <a:ahLst/>
            <a:cxnLst/>
            <a:rect r="r" b="b" t="t" l="l"/>
            <a:pathLst>
              <a:path h="1665918" w="3085034">
                <a:moveTo>
                  <a:pt x="0" y="0"/>
                </a:moveTo>
                <a:lnTo>
                  <a:pt x="3085034" y="0"/>
                </a:lnTo>
                <a:lnTo>
                  <a:pt x="3085034" y="1665918"/>
                </a:lnTo>
                <a:lnTo>
                  <a:pt x="0" y="1665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168227" y="5042710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168227" y="341800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168227" y="4259323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257346" y="3404770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6270565" y="4273040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630210" y="34812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630210" y="51059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630210" y="34812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630210" y="43226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719329" y="34680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732548" y="43363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21237" y="346556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21237" y="5090271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21237" y="346556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521237" y="4306884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3610356" y="3452331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3623575" y="432060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748708" y="3389522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748708" y="501422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748708" y="3389522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748708" y="423083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837827" y="337628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3851047" y="4244555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224248" y="3431724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224248" y="505642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4224248" y="3431724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14224248" y="4273040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313367" y="341848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6326586" y="4286757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115275" y="34159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115275" y="50406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115275" y="34159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9115275" y="42573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1204394" y="34027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11217613" y="42710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268113" y="3656615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系統架構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與流程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159140" y="3640888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研究動機與目標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40963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037127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資料來源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71223" y="3863671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結果展示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60481" y="3892471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50161"/>
            <a:ext cx="16230600" cy="5881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隨著社群媒體普及，多重美顏濾鏡與修圖技術導致影像與真實外貌間存在巨大落差。當這些失真影像大量出現時，會降低影像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資訊的真實性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引發身分辨識困難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社會信任風險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</a:p>
          <a:p>
            <a:pPr algn="just">
              <a:lnSpc>
                <a:spcPts val="4256"/>
              </a:lnSpc>
            </a:pPr>
          </a:p>
          <a:p>
            <a:pPr algn="just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目前專注於人臉美顏還原的模型相對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稀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少，且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現有技術通常只能處理單一修圖類型，無法應對現實中多重美顏效果的疊加，導致還原失效。</a:t>
            </a:r>
          </a:p>
          <a:p>
            <a:pPr algn="just">
              <a:lnSpc>
                <a:spcPts val="4256"/>
              </a:lnSpc>
              <a:spcBef>
                <a:spcPct val="0"/>
              </a:spcBef>
            </a:pPr>
          </a:p>
          <a:p>
            <a:pPr algn="just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因此，本專題目標開發一個新型模型，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能夠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同時精準還原四種常見的修圖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效果。我們的目標在解決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多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重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美顏導致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的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還原失效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率，最終解決社群媒體中的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「真實性模糊」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問題，讓使用者與影像資訊的互動更加安全可信。</a:t>
            </a:r>
          </a:p>
          <a:p>
            <a:pPr algn="l">
              <a:lnSpc>
                <a:spcPts val="4256"/>
              </a:lnSpc>
              <a:spcBef>
                <a:spcPct val="0"/>
              </a:spcBef>
            </a:pPr>
          </a:p>
          <a:p>
            <a:pPr algn="l">
              <a:lnSpc>
                <a:spcPts val="425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712888" y="461645"/>
            <a:ext cx="3698439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3883" y="1860703"/>
            <a:ext cx="16230600" cy="5881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我們的專題目標主要是針對主流修圖A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PP(美圖秀秀等等)，從這些主流的修圖APP中，我們聚焦於還原其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四大核心美顏效果(加大眼睛、瘦臉、美白、磨皮)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以此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解決真實性模糊的問題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</a:p>
          <a:p>
            <a:pPr algn="l">
              <a:lnSpc>
                <a:spcPts val="4256"/>
              </a:lnSpc>
              <a:spcBef>
                <a:spcPct val="0"/>
              </a:spcBef>
            </a:pPr>
          </a:p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我們的模型是基於深度學習架構的兩階段生成對抗網路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第一階段修復負責學習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粗略還原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第二階段修復進一步進行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細節修復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最後使用判別器對最終輸出做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對抗訓練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以修圖後的人臉圖像為輸入，生成接近原始樣貌的還原影像，希望還原的結果能夠接近原圖。</a:t>
            </a:r>
          </a:p>
          <a:p>
            <a:pPr algn="l">
              <a:lnSpc>
                <a:spcPts val="4256"/>
              </a:lnSpc>
              <a:spcBef>
                <a:spcPct val="0"/>
              </a:spcBef>
            </a:pPr>
          </a:p>
          <a:p>
            <a:pPr algn="l">
              <a:lnSpc>
                <a:spcPts val="425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712888" y="461645"/>
            <a:ext cx="3209332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研究目標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19269">
            <a:off x="3039007" y="-8900802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9269">
            <a:off x="2560170" y="4718759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154670" y="343909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268045" y="3503370"/>
            <a:ext cx="3085034" cy="1665918"/>
          </a:xfrm>
          <a:custGeom>
            <a:avLst/>
            <a:gdLst/>
            <a:ahLst/>
            <a:cxnLst/>
            <a:rect r="r" b="b" t="t" l="l"/>
            <a:pathLst>
              <a:path h="1665918" w="3085034">
                <a:moveTo>
                  <a:pt x="0" y="0"/>
                </a:moveTo>
                <a:lnTo>
                  <a:pt x="3085034" y="0"/>
                </a:lnTo>
                <a:lnTo>
                  <a:pt x="3085034" y="1665918"/>
                </a:lnTo>
                <a:lnTo>
                  <a:pt x="0" y="1665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154670" y="506379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154670" y="3439095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154670" y="428041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243789" y="342585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6257009" y="429412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630210" y="34812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630210" y="51059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630210" y="34812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630210" y="43226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719329" y="34680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732548" y="43363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21237" y="346556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21237" y="5090271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21237" y="346556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521237" y="4306884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3610356" y="3452331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3623575" y="432060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748708" y="3389522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748708" y="501422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748708" y="3389522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748708" y="423083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837827" y="337628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3851047" y="4244555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224248" y="3431724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224248" y="505642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4224248" y="3431724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14224248" y="4273040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313367" y="341848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6326586" y="4286757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115275" y="34159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115275" y="50406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115275" y="34159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9115275" y="42573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1204394" y="34027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11217613" y="42710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4946925" y="3913559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68113" y="3656615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系統架構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與流程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59140" y="3640888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研究動機與目標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40963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037127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資料來源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71223" y="3863671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結果展示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82885" y="1850895"/>
            <a:ext cx="7376415" cy="3540679"/>
          </a:xfrm>
          <a:custGeom>
            <a:avLst/>
            <a:gdLst/>
            <a:ahLst/>
            <a:cxnLst/>
            <a:rect r="r" b="b" t="t" l="l"/>
            <a:pathLst>
              <a:path h="3540679" w="7376415">
                <a:moveTo>
                  <a:pt x="0" y="0"/>
                </a:moveTo>
                <a:lnTo>
                  <a:pt x="7376415" y="0"/>
                </a:lnTo>
                <a:lnTo>
                  <a:pt x="7376415" y="3540680"/>
                </a:lnTo>
                <a:lnTo>
                  <a:pt x="0" y="3540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76183" y="461645"/>
            <a:ext cx="3145402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84220"/>
            <a:ext cx="7932165" cy="428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資料集中的修圖類型有4種，磨皮、美白、瘦臉和眼睛加大，總共取10000張當作我們的資料集。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只包含一種修圖類型：各700張</a:t>
            </a:r>
          </a:p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從4種修圖類型中挑2種：1200張</a:t>
            </a:r>
          </a:p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從4種修圖類型中挑3種：3000張</a:t>
            </a:r>
          </a:p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4種修圖類型都有還原：3000張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19269">
            <a:off x="3039007" y="-8900802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9269">
            <a:off x="2560170" y="4718759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154670" y="343909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637565" y="3528921"/>
            <a:ext cx="3085034" cy="1665918"/>
          </a:xfrm>
          <a:custGeom>
            <a:avLst/>
            <a:gdLst/>
            <a:ahLst/>
            <a:cxnLst/>
            <a:rect r="r" b="b" t="t" l="l"/>
            <a:pathLst>
              <a:path h="1665918" w="3085034">
                <a:moveTo>
                  <a:pt x="0" y="0"/>
                </a:moveTo>
                <a:lnTo>
                  <a:pt x="3085033" y="0"/>
                </a:lnTo>
                <a:lnTo>
                  <a:pt x="3085033" y="1665918"/>
                </a:lnTo>
                <a:lnTo>
                  <a:pt x="0" y="1665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154670" y="506379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154670" y="3439095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154670" y="428041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243789" y="342585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6257009" y="429412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630210" y="34812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630210" y="51059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630210" y="34812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630210" y="43226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719329" y="34680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732548" y="43363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21237" y="346556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21237" y="5090271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21237" y="346556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521237" y="4306884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3610356" y="3452331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3623575" y="432060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748708" y="3389522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748708" y="501422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748708" y="3389522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748708" y="423083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837827" y="337628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3851047" y="4244555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224248" y="3431724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224248" y="505642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4224248" y="3431724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14224248" y="4273040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313367" y="341848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6326586" y="4286757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115275" y="34159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115275" y="50406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115275" y="34159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9115275" y="42573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1204394" y="34027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11217613" y="42710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4946925" y="3913559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68113" y="3656615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系統架構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與流程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59140" y="3640888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研究動機與目標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40963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037127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資料來源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71223" y="3863671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結果展示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036030"/>
            <a:ext cx="9546412" cy="4182001"/>
          </a:xfrm>
          <a:custGeom>
            <a:avLst/>
            <a:gdLst/>
            <a:ahLst/>
            <a:cxnLst/>
            <a:rect r="r" b="b" t="t" l="l"/>
            <a:pathLst>
              <a:path h="4182001" w="9546412">
                <a:moveTo>
                  <a:pt x="0" y="0"/>
                </a:moveTo>
                <a:lnTo>
                  <a:pt x="9546412" y="0"/>
                </a:lnTo>
                <a:lnTo>
                  <a:pt x="9546412" y="4182001"/>
                </a:lnTo>
                <a:lnTo>
                  <a:pt x="0" y="4182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10539" y="392113"/>
            <a:ext cx="8666921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還原自然人像模型架構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75521" y="2969355"/>
            <a:ext cx="3328988" cy="374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56"/>
              </a:lnSpc>
              <a:buAutoNum type="arabicPeriod" startAt="1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輸入階段</a:t>
            </a:r>
          </a:p>
          <a:p>
            <a:pPr algn="l" marL="690881" indent="-345440" lvl="1">
              <a:lnSpc>
                <a:spcPts val="4256"/>
              </a:lnSpc>
              <a:buAutoNum type="arabicPeriod" startAt="1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高斯反模糊</a:t>
            </a:r>
          </a:p>
          <a:p>
            <a:pPr algn="l" marL="690881" indent="-345440" lvl="1">
              <a:lnSpc>
                <a:spcPts val="4256"/>
              </a:lnSpc>
              <a:buAutoNum type="arabicPeriod" startAt="1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spc="-182">
                <a:solidFill>
                  <a:srgbClr val="FF32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Pix2Pix </a:t>
            </a:r>
          </a:p>
          <a:p>
            <a:pPr algn="l" marL="690881" indent="-345440" lvl="1">
              <a:lnSpc>
                <a:spcPts val="4256"/>
              </a:lnSpc>
              <a:buAutoNum type="arabicPeriod" startAt="1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spc="-182">
                <a:solidFill>
                  <a:srgbClr val="FF32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 + CBAM</a:t>
            </a:r>
          </a:p>
          <a:p>
            <a:pPr algn="l" marL="690881" indent="-345440" lvl="1">
              <a:lnSpc>
                <a:spcPts val="4256"/>
              </a:lnSpc>
              <a:buAutoNum type="arabicPeriod" startAt="1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spc="-182">
                <a:solidFill>
                  <a:srgbClr val="FF32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Discriminator</a:t>
            </a:r>
          </a:p>
          <a:p>
            <a:pPr algn="l" marL="690881" indent="-345440" lvl="1">
              <a:lnSpc>
                <a:spcPts val="4256"/>
              </a:lnSpc>
              <a:buAutoNum type="arabicPeriod" startAt="1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損失函數</a:t>
            </a:r>
          </a:p>
          <a:p>
            <a:pPr algn="l" marL="690881" indent="-345440" lvl="1">
              <a:lnSpc>
                <a:spcPts val="4256"/>
              </a:lnSpc>
              <a:buAutoNum type="arabicPeriod" startAt="1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反向傳播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34027" y="4527810"/>
            <a:ext cx="3219946" cy="1231381"/>
            <a:chOff x="0" y="0"/>
            <a:chExt cx="1531046" cy="585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7597"/>
              <a:ext cx="1512578" cy="550313"/>
            </a:xfrm>
            <a:custGeom>
              <a:avLst/>
              <a:gdLst/>
              <a:ahLst/>
              <a:cxnLst/>
              <a:rect r="r" b="b" t="t" l="l"/>
              <a:pathLst>
                <a:path h="550313" w="1512578">
                  <a:moveTo>
                    <a:pt x="1501783" y="254076"/>
                  </a:moveTo>
                  <a:lnTo>
                    <a:pt x="1153910" y="3483"/>
                  </a:lnTo>
                  <a:cubicBezTo>
                    <a:pt x="1148285" y="-568"/>
                    <a:pt x="1140866" y="-1129"/>
                    <a:pt x="1134697" y="2030"/>
                  </a:cubicBezTo>
                  <a:cubicBezTo>
                    <a:pt x="1128527" y="5189"/>
                    <a:pt x="1124646" y="11537"/>
                    <a:pt x="1124646" y="18468"/>
                  </a:cubicBezTo>
                  <a:lnTo>
                    <a:pt x="1124646" y="149538"/>
                  </a:lnTo>
                  <a:cubicBezTo>
                    <a:pt x="1124646" y="159103"/>
                    <a:pt x="1120846" y="168276"/>
                    <a:pt x="1114083" y="175040"/>
                  </a:cubicBezTo>
                  <a:cubicBezTo>
                    <a:pt x="1107319" y="181803"/>
                    <a:pt x="1098146" y="185603"/>
                    <a:pt x="1088581" y="185603"/>
                  </a:cubicBezTo>
                  <a:lnTo>
                    <a:pt x="36065" y="185603"/>
                  </a:lnTo>
                  <a:cubicBezTo>
                    <a:pt x="26500" y="185603"/>
                    <a:pt x="17327" y="189403"/>
                    <a:pt x="10563" y="196166"/>
                  </a:cubicBezTo>
                  <a:cubicBezTo>
                    <a:pt x="3800" y="202930"/>
                    <a:pt x="0" y="212103"/>
                    <a:pt x="0" y="221668"/>
                  </a:cubicBezTo>
                  <a:lnTo>
                    <a:pt x="0" y="328644"/>
                  </a:lnTo>
                  <a:cubicBezTo>
                    <a:pt x="0" y="338210"/>
                    <a:pt x="3800" y="347383"/>
                    <a:pt x="10563" y="354147"/>
                  </a:cubicBezTo>
                  <a:cubicBezTo>
                    <a:pt x="17327" y="360910"/>
                    <a:pt x="26500" y="364710"/>
                    <a:pt x="36065" y="364710"/>
                  </a:cubicBezTo>
                  <a:lnTo>
                    <a:pt x="1088581" y="364710"/>
                  </a:lnTo>
                  <a:cubicBezTo>
                    <a:pt x="1098146" y="364710"/>
                    <a:pt x="1107319" y="368510"/>
                    <a:pt x="1114083" y="375273"/>
                  </a:cubicBezTo>
                  <a:cubicBezTo>
                    <a:pt x="1120846" y="382037"/>
                    <a:pt x="1124646" y="391210"/>
                    <a:pt x="1124646" y="400775"/>
                  </a:cubicBezTo>
                  <a:lnTo>
                    <a:pt x="1124646" y="531845"/>
                  </a:lnTo>
                  <a:cubicBezTo>
                    <a:pt x="1124646" y="538776"/>
                    <a:pt x="1128527" y="545124"/>
                    <a:pt x="1134697" y="548283"/>
                  </a:cubicBezTo>
                  <a:cubicBezTo>
                    <a:pt x="1140866" y="551442"/>
                    <a:pt x="1148285" y="550881"/>
                    <a:pt x="1153910" y="546830"/>
                  </a:cubicBezTo>
                  <a:lnTo>
                    <a:pt x="1501783" y="296237"/>
                  </a:lnTo>
                  <a:cubicBezTo>
                    <a:pt x="1508561" y="291354"/>
                    <a:pt x="1512578" y="283510"/>
                    <a:pt x="1512578" y="275156"/>
                  </a:cubicBezTo>
                  <a:cubicBezTo>
                    <a:pt x="1512578" y="266803"/>
                    <a:pt x="1508561" y="258959"/>
                    <a:pt x="1501783" y="254076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17475"/>
              <a:ext cx="1429446" cy="26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12888" y="461645"/>
            <a:ext cx="4155990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輸入階段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24375" y="4806505"/>
            <a:ext cx="2916370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Tensor [3, 256, 256]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8482" y="2634967"/>
            <a:ext cx="1731036" cy="161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Resize()</a:t>
            </a:r>
          </a:p>
          <a:p>
            <a:pPr algn="ctr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ToTensor()</a:t>
            </a:r>
          </a:p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Normalize()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1643" y="8650986"/>
            <a:ext cx="7664715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將修圖先進行預處理，變成模型能輸入的格式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9123" y="3037361"/>
            <a:ext cx="4212279" cy="4212279"/>
          </a:xfrm>
          <a:custGeom>
            <a:avLst/>
            <a:gdLst/>
            <a:ahLst/>
            <a:cxnLst/>
            <a:rect r="r" b="b" t="t" l="l"/>
            <a:pathLst>
              <a:path h="4212279" w="4212279">
                <a:moveTo>
                  <a:pt x="0" y="0"/>
                </a:moveTo>
                <a:lnTo>
                  <a:pt x="4212279" y="0"/>
                </a:lnTo>
                <a:lnTo>
                  <a:pt x="4212279" y="4212278"/>
                </a:lnTo>
                <a:lnTo>
                  <a:pt x="0" y="4212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40032" y="461645"/>
            <a:ext cx="4223264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高斯反模糊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84220"/>
            <a:ext cx="16230600" cy="481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在修圖軟體裡(像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美圖、相機濾鏡)，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磨皮類型常常會用到高斯模糊或是導向模糊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，用來做柔化皮膚、去除紋理，這會讓：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毛孔消失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細節被抹掉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膚色變得不自然、偏亮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導致原本存在的細節資訊丟失，所以在進入模型前，會先把修圖中人臉的部分從圖片中擷取出來，把擷取的人臉先進行反模糊，捕捉一點資訊回來。</a:t>
            </a:r>
          </a:p>
          <a:p>
            <a:pPr algn="l">
              <a:lnSpc>
                <a:spcPts val="425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84220"/>
            <a:ext cx="16230600" cy="481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將反模糊後的修圖輸入給模型進行還原，模型主要分成 Pix2Pix、RRDB + CBAM、Discriminator 這3個模塊，會依序進入第一階段修復，再到第二階段修復，最後做對抗訓練。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第一階段修復使用 Pix2Pix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粗略修復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第二階段修復使用 RRDB + CBAM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細節修復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最後使用 Discriminator 做對抗訓練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提升整體自然度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14425" y="461645"/>
            <a:ext cx="2958475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247384"/>
            <a:ext cx="16230600" cy="374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當輸入到達 Pix2Pix 模塊後，會經過Encoder(下採樣)、Bottleneck(瓶頸)和Decoder(上採樣)，再輸出給下一個模塊。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Encoder(下採樣)：利用捲積、池化、正規化，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逐層將圖像解析度降低，提取抽象的特徵、抓高階語意。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Bottleneck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(瓶頸)：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在不會破壞太多原本的特徵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，用殘差和膨脹卷積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學習如何修正這張圖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Decoder(上採樣)：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逐層把抽象特徵放大，再跟原本相同層的 Encoder 特徵結合，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重建圖像。</a:t>
            </a:r>
          </a:p>
          <a:p>
            <a:pPr algn="l">
              <a:lnSpc>
                <a:spcPts val="425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56355" y="2175010"/>
            <a:ext cx="9575291" cy="1555985"/>
          </a:xfrm>
          <a:custGeom>
            <a:avLst/>
            <a:gdLst/>
            <a:ahLst/>
            <a:cxnLst/>
            <a:rect r="r" b="b" t="t" l="l"/>
            <a:pathLst>
              <a:path h="1555985" w="9575291">
                <a:moveTo>
                  <a:pt x="0" y="0"/>
                </a:moveTo>
                <a:lnTo>
                  <a:pt x="9575290" y="0"/>
                </a:lnTo>
                <a:lnTo>
                  <a:pt x="9575290" y="1555984"/>
                </a:lnTo>
                <a:lnTo>
                  <a:pt x="0" y="1555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13512" y="461645"/>
            <a:ext cx="6081412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Pix2Pix架構介紹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9631" y="4285118"/>
            <a:ext cx="6795662" cy="2120014"/>
          </a:xfrm>
          <a:custGeom>
            <a:avLst/>
            <a:gdLst/>
            <a:ahLst/>
            <a:cxnLst/>
            <a:rect r="r" b="b" t="t" l="l"/>
            <a:pathLst>
              <a:path h="2120014" w="6795662">
                <a:moveTo>
                  <a:pt x="0" y="0"/>
                </a:moveTo>
                <a:lnTo>
                  <a:pt x="6795662" y="0"/>
                </a:lnTo>
                <a:lnTo>
                  <a:pt x="6795662" y="2120014"/>
                </a:lnTo>
                <a:lnTo>
                  <a:pt x="0" y="2120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29631" y="6738507"/>
            <a:ext cx="6795662" cy="2061076"/>
          </a:xfrm>
          <a:custGeom>
            <a:avLst/>
            <a:gdLst/>
            <a:ahLst/>
            <a:cxnLst/>
            <a:rect r="r" b="b" t="t" l="l"/>
            <a:pathLst>
              <a:path h="2061076" w="6795662">
                <a:moveTo>
                  <a:pt x="0" y="0"/>
                </a:moveTo>
                <a:lnTo>
                  <a:pt x="6795662" y="0"/>
                </a:lnTo>
                <a:lnTo>
                  <a:pt x="6795662" y="2061076"/>
                </a:lnTo>
                <a:lnTo>
                  <a:pt x="0" y="2061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11529" y="1785125"/>
            <a:ext cx="5072331" cy="1419602"/>
          </a:xfrm>
          <a:custGeom>
            <a:avLst/>
            <a:gdLst/>
            <a:ahLst/>
            <a:cxnLst/>
            <a:rect r="r" b="b" t="t" l="l"/>
            <a:pathLst>
              <a:path h="1419602" w="5072331">
                <a:moveTo>
                  <a:pt x="0" y="0"/>
                </a:moveTo>
                <a:lnTo>
                  <a:pt x="5072331" y="0"/>
                </a:lnTo>
                <a:lnTo>
                  <a:pt x="5072331" y="1419602"/>
                </a:lnTo>
                <a:lnTo>
                  <a:pt x="0" y="141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1529" y="4285118"/>
            <a:ext cx="5072331" cy="1419602"/>
          </a:xfrm>
          <a:custGeom>
            <a:avLst/>
            <a:gdLst/>
            <a:ahLst/>
            <a:cxnLst/>
            <a:rect r="r" b="b" t="t" l="l"/>
            <a:pathLst>
              <a:path h="1419602" w="5072331">
                <a:moveTo>
                  <a:pt x="0" y="0"/>
                </a:moveTo>
                <a:lnTo>
                  <a:pt x="5072331" y="0"/>
                </a:lnTo>
                <a:lnTo>
                  <a:pt x="5072331" y="1419602"/>
                </a:lnTo>
                <a:lnTo>
                  <a:pt x="0" y="141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11529" y="6706527"/>
            <a:ext cx="5072331" cy="1419602"/>
          </a:xfrm>
          <a:custGeom>
            <a:avLst/>
            <a:gdLst/>
            <a:ahLst/>
            <a:cxnLst/>
            <a:rect r="r" b="b" t="t" l="l"/>
            <a:pathLst>
              <a:path h="1419602" w="5072331">
                <a:moveTo>
                  <a:pt x="0" y="0"/>
                </a:moveTo>
                <a:lnTo>
                  <a:pt x="5072331" y="0"/>
                </a:lnTo>
                <a:lnTo>
                  <a:pt x="5072331" y="1419602"/>
                </a:lnTo>
                <a:lnTo>
                  <a:pt x="0" y="141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29631" y="1785125"/>
            <a:ext cx="6795662" cy="2206763"/>
          </a:xfrm>
          <a:custGeom>
            <a:avLst/>
            <a:gdLst/>
            <a:ahLst/>
            <a:cxnLst/>
            <a:rect r="r" b="b" t="t" l="l"/>
            <a:pathLst>
              <a:path h="2206763" w="6795662">
                <a:moveTo>
                  <a:pt x="0" y="0"/>
                </a:moveTo>
                <a:lnTo>
                  <a:pt x="6795662" y="0"/>
                </a:lnTo>
                <a:lnTo>
                  <a:pt x="6795662" y="2206763"/>
                </a:lnTo>
                <a:lnTo>
                  <a:pt x="0" y="22067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29631" y="6712948"/>
            <a:ext cx="6795662" cy="2086635"/>
          </a:xfrm>
          <a:custGeom>
            <a:avLst/>
            <a:gdLst/>
            <a:ahLst/>
            <a:cxnLst/>
            <a:rect r="r" b="b" t="t" l="l"/>
            <a:pathLst>
              <a:path h="2086635" w="6795662">
                <a:moveTo>
                  <a:pt x="0" y="0"/>
                </a:moveTo>
                <a:lnTo>
                  <a:pt x="6795662" y="0"/>
                </a:lnTo>
                <a:lnTo>
                  <a:pt x="6795662" y="2086635"/>
                </a:lnTo>
                <a:lnTo>
                  <a:pt x="0" y="20866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157932"/>
            <a:ext cx="16230600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Encoder(下採樣)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683036"/>
            <a:ext cx="16230600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ResBlock(殘差)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28916"/>
            <a:ext cx="16230600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Decoder(上採樣)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29742" y="460515"/>
            <a:ext cx="5390501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Pix2Pix輸出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84220"/>
            <a:ext cx="16230600" cy="26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Pix2Pix 的重點是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讓修圖回到合理的人臉結構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，細節的部分還沒有進行完整修復。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負責復原臉部的幾何結構，包含: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五官位置、臉型輪廓、眼睛比例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整體對比改善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96433" y="392113"/>
            <a:ext cx="4295135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Pix2Pix功用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06367"/>
            <a:ext cx="1963056" cy="6210979"/>
          </a:xfrm>
          <a:custGeom>
            <a:avLst/>
            <a:gdLst/>
            <a:ahLst/>
            <a:cxnLst/>
            <a:rect r="r" b="b" t="t" l="l"/>
            <a:pathLst>
              <a:path h="6210979" w="1963056">
                <a:moveTo>
                  <a:pt x="0" y="0"/>
                </a:moveTo>
                <a:lnTo>
                  <a:pt x="1963056" y="0"/>
                </a:lnTo>
                <a:lnTo>
                  <a:pt x="1963056" y="6210979"/>
                </a:lnTo>
                <a:lnTo>
                  <a:pt x="0" y="6210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10514" y="2406367"/>
            <a:ext cx="1765672" cy="5891578"/>
          </a:xfrm>
          <a:custGeom>
            <a:avLst/>
            <a:gdLst/>
            <a:ahLst/>
            <a:cxnLst/>
            <a:rect r="r" b="b" t="t" l="l"/>
            <a:pathLst>
              <a:path h="5891578" w="1765672">
                <a:moveTo>
                  <a:pt x="0" y="0"/>
                </a:moveTo>
                <a:lnTo>
                  <a:pt x="1765672" y="0"/>
                </a:lnTo>
                <a:lnTo>
                  <a:pt x="1765672" y="5891578"/>
                </a:lnTo>
                <a:lnTo>
                  <a:pt x="0" y="5891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95436" y="2406367"/>
            <a:ext cx="1907894" cy="7740154"/>
          </a:xfrm>
          <a:custGeom>
            <a:avLst/>
            <a:gdLst/>
            <a:ahLst/>
            <a:cxnLst/>
            <a:rect r="r" b="b" t="t" l="l"/>
            <a:pathLst>
              <a:path h="7740154" w="1907894">
                <a:moveTo>
                  <a:pt x="0" y="0"/>
                </a:moveTo>
                <a:lnTo>
                  <a:pt x="1907893" y="0"/>
                </a:lnTo>
                <a:lnTo>
                  <a:pt x="1907893" y="7740153"/>
                </a:lnTo>
                <a:lnTo>
                  <a:pt x="0" y="7740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10514" y="392113"/>
            <a:ext cx="8677786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 + CBAM 架構介紹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6772" y="1650374"/>
            <a:ext cx="1086912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85830" y="1650374"/>
            <a:ext cx="2215041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RRDBBlock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48564" y="1650374"/>
            <a:ext cx="12016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20343" y="1769205"/>
            <a:ext cx="6241458" cy="428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當影像通過 Pix2Pix 完成粗略還原後，RRDB 負責進一步補強細節。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是最基礎的小積木，以殘差的方式拼接，形成組件RRDBBlock，在數個組件RRDBBlock  前後加上捲積，再用殘差的方式形成RRDB。</a:t>
            </a:r>
          </a:p>
          <a:p>
            <a:pPr algn="l">
              <a:lnSpc>
                <a:spcPts val="4256"/>
              </a:lnSpc>
            </a:pPr>
          </a:p>
        </p:txBody>
      </p:sp>
      <p:sp>
        <p:nvSpPr>
          <p:cNvPr name="AutoShape 11" id="11"/>
          <p:cNvSpPr/>
          <p:nvPr/>
        </p:nvSpPr>
        <p:spPr>
          <a:xfrm>
            <a:off x="2991756" y="2406367"/>
            <a:ext cx="2099704" cy="12122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2991756" y="4000481"/>
            <a:ext cx="2099704" cy="46168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376186" y="2406367"/>
            <a:ext cx="1972378" cy="2263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376186" y="4952292"/>
            <a:ext cx="1972378" cy="33456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982471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8" y="0"/>
                </a:lnTo>
                <a:lnTo>
                  <a:pt x="4667958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8225" y="1784220"/>
            <a:ext cx="16230600" cy="321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 是整個模型中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負責還原真實感與細節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的部分。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負責恢復皮膚的高頻細節，補回 Pix2Pix 輸出中的細節，例如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修復磨皮導致的紋理缺失，毛孔、額頭法令紋走向、鼻翼紋理等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臉頰凹凸感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下巴，眼角等陰影紋理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63280" y="461645"/>
            <a:ext cx="8520109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 + CBAM整合功用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64545" y="392113"/>
            <a:ext cx="5158909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Block架構介紹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38429" y="1769205"/>
            <a:ext cx="11732897" cy="481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每一層的卷積都會接收前面所有層的輸出，保留低階到高階的多尺度特徵。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最後用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CBAM 注意力當作最後一層，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專注強化臉部重要區域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，例如眼睛、鼻翼、臉頰等等。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局部殘差：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最後的輸出是</a:t>
            </a:r>
            <a:r>
              <a:rPr lang="en-US" sz="3200" spc="-182">
                <a:solidFill>
                  <a:srgbClr val="2F31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包含進入Block前的輸入，再加上最後一層的輸出乘上小的比例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，讓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模型在修正細節的同時，不破壞原本影像結構。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561771" y="2406367"/>
            <a:ext cx="1730209" cy="5474267"/>
          </a:xfrm>
          <a:custGeom>
            <a:avLst/>
            <a:gdLst/>
            <a:ahLst/>
            <a:cxnLst/>
            <a:rect r="r" b="b" t="t" l="l"/>
            <a:pathLst>
              <a:path h="5474267" w="1730209">
                <a:moveTo>
                  <a:pt x="0" y="0"/>
                </a:moveTo>
                <a:lnTo>
                  <a:pt x="1730209" y="0"/>
                </a:lnTo>
                <a:lnTo>
                  <a:pt x="1730209" y="5474266"/>
                </a:lnTo>
                <a:lnTo>
                  <a:pt x="0" y="547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3419" y="1650374"/>
            <a:ext cx="1086912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84220"/>
            <a:ext cx="16230600" cy="801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CBAM是一個輕量的注意力模組，在 Block 中的最後一層，加入 CBAM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模組，用來強化重要特徵。CBAM 包含兩個注意力機制：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Attention(通道注意力)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對特徵圖每個 Channel 做平均池化與最大池化(tensor變成(n,1,1))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分別輸入到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MLP，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將兩組結果進行逐元素相加，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生成 n-維注意力權重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用來加權每個 Channel 的重要性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Attention(空間注意力)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將相同 Channel 內做平均池化與最大池化(tensor變成(1,n,n))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兩者 concat，卷積產生 H×W 的空間注意力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決定哪個位置應該被放大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最後會將 Channel Attention + Spatial Attention 的結果套用到原本的特徵圖上，讓特徵圖更集中注意力，專注於真正被修圖破壞的區域，例如臉頰、鼻翼、額頭等等。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772705" y="461645"/>
            <a:ext cx="5558981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Block架構介紹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8622" y="1850895"/>
            <a:ext cx="7063768" cy="2033509"/>
          </a:xfrm>
          <a:custGeom>
            <a:avLst/>
            <a:gdLst/>
            <a:ahLst/>
            <a:cxnLst/>
            <a:rect r="r" b="b" t="t" l="l"/>
            <a:pathLst>
              <a:path h="2033509" w="7063768">
                <a:moveTo>
                  <a:pt x="0" y="0"/>
                </a:moveTo>
                <a:lnTo>
                  <a:pt x="7063768" y="0"/>
                </a:lnTo>
                <a:lnTo>
                  <a:pt x="7063768" y="2033509"/>
                </a:lnTo>
                <a:lnTo>
                  <a:pt x="0" y="2033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4882" y="1850895"/>
            <a:ext cx="4218278" cy="1180577"/>
          </a:xfrm>
          <a:custGeom>
            <a:avLst/>
            <a:gdLst/>
            <a:ahLst/>
            <a:cxnLst/>
            <a:rect r="r" b="b" t="t" l="l"/>
            <a:pathLst>
              <a:path h="1180577" w="4218278">
                <a:moveTo>
                  <a:pt x="0" y="0"/>
                </a:moveTo>
                <a:lnTo>
                  <a:pt x="4218278" y="0"/>
                </a:lnTo>
                <a:lnTo>
                  <a:pt x="4218278" y="1180577"/>
                </a:lnTo>
                <a:lnTo>
                  <a:pt x="0" y="1180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98622" y="1850895"/>
            <a:ext cx="7063768" cy="2016021"/>
          </a:xfrm>
          <a:custGeom>
            <a:avLst/>
            <a:gdLst/>
            <a:ahLst/>
            <a:cxnLst/>
            <a:rect r="r" b="b" t="t" l="l"/>
            <a:pathLst>
              <a:path h="2016021" w="7063768">
                <a:moveTo>
                  <a:pt x="0" y="0"/>
                </a:moveTo>
                <a:lnTo>
                  <a:pt x="7063768" y="0"/>
                </a:lnTo>
                <a:lnTo>
                  <a:pt x="7063768" y="2016021"/>
                </a:lnTo>
                <a:lnTo>
                  <a:pt x="0" y="20160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98622" y="1907944"/>
            <a:ext cx="7063768" cy="2031615"/>
          </a:xfrm>
          <a:custGeom>
            <a:avLst/>
            <a:gdLst/>
            <a:ahLst/>
            <a:cxnLst/>
            <a:rect r="r" b="b" t="t" l="l"/>
            <a:pathLst>
              <a:path h="2031615" w="7063768">
                <a:moveTo>
                  <a:pt x="0" y="0"/>
                </a:moveTo>
                <a:lnTo>
                  <a:pt x="7063768" y="0"/>
                </a:lnTo>
                <a:lnTo>
                  <a:pt x="7063768" y="2031614"/>
                </a:lnTo>
                <a:lnTo>
                  <a:pt x="0" y="2031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86393" y="461645"/>
            <a:ext cx="3804320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Block輸出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6925" y="2187068"/>
            <a:ext cx="16230600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91368" y="1850895"/>
            <a:ext cx="3354586" cy="3255680"/>
          </a:xfrm>
          <a:custGeom>
            <a:avLst/>
            <a:gdLst/>
            <a:ahLst/>
            <a:cxnLst/>
            <a:rect r="r" b="b" t="t" l="l"/>
            <a:pathLst>
              <a:path h="3255680" w="3354586">
                <a:moveTo>
                  <a:pt x="0" y="0"/>
                </a:moveTo>
                <a:lnTo>
                  <a:pt x="3354587" y="0"/>
                </a:lnTo>
                <a:lnTo>
                  <a:pt x="3354587" y="3255680"/>
                </a:lnTo>
                <a:lnTo>
                  <a:pt x="0" y="3255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91368" y="5363750"/>
            <a:ext cx="5867932" cy="3421483"/>
          </a:xfrm>
          <a:custGeom>
            <a:avLst/>
            <a:gdLst/>
            <a:ahLst/>
            <a:cxnLst/>
            <a:rect r="r" b="b" t="t" l="l"/>
            <a:pathLst>
              <a:path h="3421483" w="5867932">
                <a:moveTo>
                  <a:pt x="0" y="0"/>
                </a:moveTo>
                <a:lnTo>
                  <a:pt x="5867932" y="0"/>
                </a:lnTo>
                <a:lnTo>
                  <a:pt x="5867932" y="3421483"/>
                </a:lnTo>
                <a:lnTo>
                  <a:pt x="0" y="3421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84220"/>
            <a:ext cx="9760004" cy="694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Attention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顏色越「偏紅、偏黃」＝注意力值越高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顏色越「偏藍、偏綠」＝注意力值較低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 會在注意力值越高的位置特別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強化細節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Attention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每一根柱子代表一個 Channel 的注意力權重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越高 = 模型越重視這個 Channel</a:t>
            </a:r>
          </a:p>
          <a:p>
            <a:pPr algn="l" marL="2072642" indent="-518160" lvl="3">
              <a:lnSpc>
                <a:spcPts val="4256"/>
              </a:lnSpc>
              <a:buFont typeface="Arial"/>
              <a:buChar char="￭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協助模型修復細節很重要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越低 = 模型覺得不重要</a:t>
            </a:r>
          </a:p>
          <a:p>
            <a:pPr algn="l" marL="2072642" indent="-518160" lvl="3">
              <a:lnSpc>
                <a:spcPts val="4256"/>
              </a:lnSpc>
              <a:buFont typeface="Arial"/>
              <a:buChar char="￭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沒什麼資訊是重要的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486393" y="461645"/>
            <a:ext cx="4293427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Block輸出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10905" y="1784220"/>
            <a:ext cx="9448395" cy="534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RRDBBlock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多層 Block 疊加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建立比單一 Block 更強的細節還原和捕捉特徵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全域殘差，防止深層網路破壞影像整體結構，保持穩定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將來自多個 RRDBBlock 的深層特徵整合成一組高品質特徵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把所有修復訊號濃縮，生成最終的細節補償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62252" y="461645"/>
            <a:ext cx="10464165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RRDBBlock + RRDB架構介紹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9142" y="2540212"/>
            <a:ext cx="1594157" cy="5319279"/>
          </a:xfrm>
          <a:custGeom>
            <a:avLst/>
            <a:gdLst/>
            <a:ahLst/>
            <a:cxnLst/>
            <a:rect r="r" b="b" t="t" l="l"/>
            <a:pathLst>
              <a:path h="5319279" w="1594157">
                <a:moveTo>
                  <a:pt x="0" y="0"/>
                </a:moveTo>
                <a:lnTo>
                  <a:pt x="1594157" y="0"/>
                </a:lnTo>
                <a:lnTo>
                  <a:pt x="1594157" y="5319279"/>
                </a:lnTo>
                <a:lnTo>
                  <a:pt x="0" y="531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05791" y="2540212"/>
            <a:ext cx="1690614" cy="6858669"/>
          </a:xfrm>
          <a:custGeom>
            <a:avLst/>
            <a:gdLst/>
            <a:ahLst/>
            <a:cxnLst/>
            <a:rect r="r" b="b" t="t" l="l"/>
            <a:pathLst>
              <a:path h="6858669" w="1690614">
                <a:moveTo>
                  <a:pt x="0" y="0"/>
                </a:moveTo>
                <a:lnTo>
                  <a:pt x="1690614" y="0"/>
                </a:lnTo>
                <a:lnTo>
                  <a:pt x="1690614" y="6858670"/>
                </a:lnTo>
                <a:lnTo>
                  <a:pt x="0" y="6858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84220"/>
            <a:ext cx="2215041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RRDBBlock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50279" y="1784220"/>
            <a:ext cx="12016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</a:t>
            </a:r>
          </a:p>
        </p:txBody>
      </p:sp>
      <p:sp>
        <p:nvSpPr>
          <p:cNvPr name="AutoShape 9" id="9"/>
          <p:cNvSpPr/>
          <p:nvPr/>
        </p:nvSpPr>
        <p:spPr>
          <a:xfrm>
            <a:off x="2933299" y="2540212"/>
            <a:ext cx="1806532" cy="20794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2895485" y="4821777"/>
            <a:ext cx="1844346" cy="30084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3107" y="1915245"/>
            <a:ext cx="4218278" cy="1180577"/>
          </a:xfrm>
          <a:custGeom>
            <a:avLst/>
            <a:gdLst/>
            <a:ahLst/>
            <a:cxnLst/>
            <a:rect r="r" b="b" t="t" l="l"/>
            <a:pathLst>
              <a:path h="1180577" w="4218278">
                <a:moveTo>
                  <a:pt x="0" y="0"/>
                </a:moveTo>
                <a:lnTo>
                  <a:pt x="4218278" y="0"/>
                </a:lnTo>
                <a:lnTo>
                  <a:pt x="4218278" y="1180576"/>
                </a:lnTo>
                <a:lnTo>
                  <a:pt x="0" y="1180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51417"/>
            <a:ext cx="16230600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RRDBBlock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218774" y="1915245"/>
            <a:ext cx="6688645" cy="1904810"/>
          </a:xfrm>
          <a:custGeom>
            <a:avLst/>
            <a:gdLst/>
            <a:ahLst/>
            <a:cxnLst/>
            <a:rect r="r" b="b" t="t" l="l"/>
            <a:pathLst>
              <a:path h="1904810" w="6688645">
                <a:moveTo>
                  <a:pt x="0" y="0"/>
                </a:moveTo>
                <a:lnTo>
                  <a:pt x="6688645" y="0"/>
                </a:lnTo>
                <a:lnTo>
                  <a:pt x="6688645" y="1904810"/>
                </a:lnTo>
                <a:lnTo>
                  <a:pt x="0" y="1904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75941" y="461645"/>
            <a:ext cx="9447006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RRDBBlock + RRDB輸出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198622" y="1850895"/>
            <a:ext cx="7063768" cy="2016021"/>
          </a:xfrm>
          <a:custGeom>
            <a:avLst/>
            <a:gdLst/>
            <a:ahLst/>
            <a:cxnLst/>
            <a:rect r="r" b="b" t="t" l="l"/>
            <a:pathLst>
              <a:path h="2016021" w="7063768">
                <a:moveTo>
                  <a:pt x="0" y="0"/>
                </a:moveTo>
                <a:lnTo>
                  <a:pt x="7063768" y="0"/>
                </a:lnTo>
                <a:lnTo>
                  <a:pt x="7063768" y="2016021"/>
                </a:lnTo>
                <a:lnTo>
                  <a:pt x="0" y="20160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84220"/>
            <a:ext cx="16230600" cy="481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讓</a:t>
            </a: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還原後的臉更自然、更真實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皮膚看起來仍然像自然臉而不是 AI 生成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改善</a:t>
            </a:r>
            <a:r>
              <a:rPr lang="en-US" sz="3200" spc="-182">
                <a:solidFill>
                  <a:srgbClr val="2F31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皮膚真實度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、讓細節看起來更自然</a:t>
            </a:r>
          </a:p>
          <a:p>
            <a:pPr algn="l">
              <a:lnSpc>
                <a:spcPts val="4256"/>
              </a:lnSpc>
            </a:pP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避免亂生成錯誤、假細節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加上不應該出現的雜訊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169140" y="461645"/>
            <a:ext cx="7590593" cy="99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Discriminator介紹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19269">
            <a:off x="3039007" y="-8900802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9269">
            <a:off x="2560170" y="4718759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154670" y="343909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093979" y="3503370"/>
            <a:ext cx="3085034" cy="1665918"/>
          </a:xfrm>
          <a:custGeom>
            <a:avLst/>
            <a:gdLst/>
            <a:ahLst/>
            <a:cxnLst/>
            <a:rect r="r" b="b" t="t" l="l"/>
            <a:pathLst>
              <a:path h="1665918" w="3085034">
                <a:moveTo>
                  <a:pt x="0" y="0"/>
                </a:moveTo>
                <a:lnTo>
                  <a:pt x="3085034" y="0"/>
                </a:lnTo>
                <a:lnTo>
                  <a:pt x="3085034" y="1665918"/>
                </a:lnTo>
                <a:lnTo>
                  <a:pt x="0" y="1665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154670" y="506379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154670" y="3439095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154670" y="428041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243789" y="342585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6257009" y="429412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630210" y="34812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630210" y="51059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630210" y="34812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630210" y="43226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719329" y="34680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732548" y="43363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21237" y="346556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21237" y="5090271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21237" y="346556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521237" y="4306884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3610356" y="3452331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3623575" y="432060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748708" y="3389522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748708" y="501422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748708" y="3389522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748708" y="423083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837827" y="337628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3851047" y="4244555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224248" y="3431724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224248" y="505642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4224248" y="3431724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14224248" y="4273040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313367" y="341848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6326586" y="4286757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115275" y="34159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115275" y="50406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115275" y="34159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9115275" y="42573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1204394" y="34027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11217613" y="42710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4946925" y="3913559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91338" y="3683569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系統架構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與流程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59140" y="3640888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研究動機與目標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40963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037127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資料來源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71223" y="3863671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結果展示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1087100" y="2057400"/>
            <a:ext cx="7200900" cy="720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000213" y="461645"/>
            <a:ext cx="5534006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還原前後對比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69468"/>
            <a:ext cx="4575133" cy="21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還原前：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L1(結構)：0.0501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Edge(邊緣)：0.0974</a:t>
            </a:r>
          </a:p>
          <a:p>
            <a:pPr algn="l" marL="690881" indent="-345440" lvl="1">
              <a:lnSpc>
                <a:spcPts val="4256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LPIPS(感知)：0.0201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77021" y="3906393"/>
            <a:ext cx="4536891" cy="21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還原後：</a:t>
            </a:r>
          </a:p>
          <a:p>
            <a:pPr algn="l" marL="690881" indent="-345440" lvl="1">
              <a:lnSpc>
                <a:spcPts val="4256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L1(結構)：0.0398</a:t>
            </a:r>
          </a:p>
          <a:p>
            <a:pPr algn="l" marL="690881" indent="-345440" lvl="1">
              <a:lnSpc>
                <a:spcPts val="4256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Edge(邊緣)：0.1119</a:t>
            </a:r>
          </a:p>
          <a:p>
            <a:pPr algn="l" marL="690881" indent="-345440" lvl="1">
              <a:lnSpc>
                <a:spcPts val="4256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LPIPS(感知)：0.0257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20443"/>
            <a:ext cx="9548264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我們採用L1(結構)、Edge(邊緣)和LPIPS(感知)當作客觀的評估指標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1058525" y="2057400"/>
            <a:ext cx="7200900" cy="720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000213" y="461645"/>
            <a:ext cx="5534006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還原前後對比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0725"/>
            <a:ext cx="9548264" cy="5881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指標分析：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 降低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代表模型在還原後，整體臉部的結構、亮度與顏色分布，更接近原始真實影像。</a:t>
            </a:r>
          </a:p>
          <a:p>
            <a:pPr algn="l" marL="690881" indent="-345440" lvl="1">
              <a:lnSpc>
                <a:spcPts val="4256"/>
              </a:lnSpc>
              <a:buFont typeface="Arial"/>
              <a:buChar char="•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/ LPIPS 上升</a:t>
            </a:r>
          </a:p>
          <a:p>
            <a:pPr algn="l" marL="1381761" indent="-460587" lvl="2">
              <a:lnSpc>
                <a:spcPts val="4256"/>
              </a:lnSpc>
              <a:buFont typeface="Arial"/>
              <a:buChar char="⚬"/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原因是模型成功修復部分被修圖消除的細節，然而復原出的紋理並非逐像素與原圖完全對齊，因此在指標上會被視為差異增加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雖然有些指標上升，但從視覺結果可以觀察到影像朝原圖的特徵恢復。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96035" y="6074721"/>
            <a:ext cx="4212279" cy="4212279"/>
          </a:xfrm>
          <a:custGeom>
            <a:avLst/>
            <a:gdLst/>
            <a:ahLst/>
            <a:cxnLst/>
            <a:rect r="r" b="b" t="t" l="l"/>
            <a:pathLst>
              <a:path h="4212279" w="4212279">
                <a:moveTo>
                  <a:pt x="0" y="0"/>
                </a:moveTo>
                <a:lnTo>
                  <a:pt x="4212279" y="0"/>
                </a:lnTo>
                <a:lnTo>
                  <a:pt x="4212279" y="4212279"/>
                </a:lnTo>
                <a:lnTo>
                  <a:pt x="0" y="4212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88582" y="6074721"/>
            <a:ext cx="4212279" cy="4212279"/>
          </a:xfrm>
          <a:custGeom>
            <a:avLst/>
            <a:gdLst/>
            <a:ahLst/>
            <a:cxnLst/>
            <a:rect r="r" b="b" t="t" l="l"/>
            <a:pathLst>
              <a:path h="4212279" w="4212279">
                <a:moveTo>
                  <a:pt x="0" y="0"/>
                </a:moveTo>
                <a:lnTo>
                  <a:pt x="4212279" y="0"/>
                </a:lnTo>
                <a:lnTo>
                  <a:pt x="4212279" y="4212279"/>
                </a:lnTo>
                <a:lnTo>
                  <a:pt x="0" y="4212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88582" y="1591945"/>
            <a:ext cx="4212279" cy="4212279"/>
          </a:xfrm>
          <a:custGeom>
            <a:avLst/>
            <a:gdLst/>
            <a:ahLst/>
            <a:cxnLst/>
            <a:rect r="r" b="b" t="t" l="l"/>
            <a:pathLst>
              <a:path h="4212279" w="4212279">
                <a:moveTo>
                  <a:pt x="0" y="0"/>
                </a:moveTo>
                <a:lnTo>
                  <a:pt x="4212279" y="0"/>
                </a:lnTo>
                <a:lnTo>
                  <a:pt x="4212279" y="4212279"/>
                </a:lnTo>
                <a:lnTo>
                  <a:pt x="0" y="4212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96035" y="1591945"/>
            <a:ext cx="4133177" cy="4133177"/>
          </a:xfrm>
          <a:custGeom>
            <a:avLst/>
            <a:gdLst/>
            <a:ahLst/>
            <a:cxnLst/>
            <a:rect r="r" b="b" t="t" l="l"/>
            <a:pathLst>
              <a:path h="4133177" w="4133177">
                <a:moveTo>
                  <a:pt x="0" y="0"/>
                </a:moveTo>
                <a:lnTo>
                  <a:pt x="4133177" y="0"/>
                </a:lnTo>
                <a:lnTo>
                  <a:pt x="4133177" y="4133177"/>
                </a:lnTo>
                <a:lnTo>
                  <a:pt x="0" y="4133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5857" y="461645"/>
            <a:ext cx="4708444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比較線上模型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04222" y="3051219"/>
            <a:ext cx="1972866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我們的模型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5030" y="7573547"/>
            <a:ext cx="766498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原圖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24520" y="7573547"/>
            <a:ext cx="275256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GFPGAN(開源)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5030" y="3090770"/>
            <a:ext cx="766498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修圖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8582" y="6074721"/>
            <a:ext cx="4212279" cy="4212279"/>
          </a:xfrm>
          <a:custGeom>
            <a:avLst/>
            <a:gdLst/>
            <a:ahLst/>
            <a:cxnLst/>
            <a:rect r="r" b="b" t="t" l="l"/>
            <a:pathLst>
              <a:path h="4212279" w="4212279">
                <a:moveTo>
                  <a:pt x="0" y="0"/>
                </a:moveTo>
                <a:lnTo>
                  <a:pt x="4212279" y="0"/>
                </a:lnTo>
                <a:lnTo>
                  <a:pt x="4212279" y="4212279"/>
                </a:lnTo>
                <a:lnTo>
                  <a:pt x="0" y="4212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88582" y="1591945"/>
            <a:ext cx="4212279" cy="4212279"/>
          </a:xfrm>
          <a:custGeom>
            <a:avLst/>
            <a:gdLst/>
            <a:ahLst/>
            <a:cxnLst/>
            <a:rect r="r" b="b" t="t" l="l"/>
            <a:pathLst>
              <a:path h="4212279" w="4212279">
                <a:moveTo>
                  <a:pt x="0" y="0"/>
                </a:moveTo>
                <a:lnTo>
                  <a:pt x="4212279" y="0"/>
                </a:lnTo>
                <a:lnTo>
                  <a:pt x="4212279" y="4212279"/>
                </a:lnTo>
                <a:lnTo>
                  <a:pt x="0" y="4212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96035" y="1591945"/>
            <a:ext cx="4133177" cy="4133177"/>
          </a:xfrm>
          <a:custGeom>
            <a:avLst/>
            <a:gdLst/>
            <a:ahLst/>
            <a:cxnLst/>
            <a:rect r="r" b="b" t="t" l="l"/>
            <a:pathLst>
              <a:path h="4133177" w="4133177">
                <a:moveTo>
                  <a:pt x="0" y="0"/>
                </a:moveTo>
                <a:lnTo>
                  <a:pt x="4133177" y="0"/>
                </a:lnTo>
                <a:lnTo>
                  <a:pt x="4133177" y="4133177"/>
                </a:lnTo>
                <a:lnTo>
                  <a:pt x="0" y="4133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04301" y="6153823"/>
            <a:ext cx="4133177" cy="4133177"/>
          </a:xfrm>
          <a:custGeom>
            <a:avLst/>
            <a:gdLst/>
            <a:ahLst/>
            <a:cxnLst/>
            <a:rect r="r" b="b" t="t" l="l"/>
            <a:pathLst>
              <a:path h="4133177" w="4133177">
                <a:moveTo>
                  <a:pt x="0" y="0"/>
                </a:moveTo>
                <a:lnTo>
                  <a:pt x="4133176" y="0"/>
                </a:lnTo>
                <a:lnTo>
                  <a:pt x="4133176" y="4133177"/>
                </a:lnTo>
                <a:lnTo>
                  <a:pt x="0" y="4133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5857" y="461645"/>
            <a:ext cx="4708444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比較線上模型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04222" y="3051219"/>
            <a:ext cx="1972866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我們的模型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5030" y="7573547"/>
            <a:ext cx="766498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原圖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5030" y="3090770"/>
            <a:ext cx="766498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修圖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0621" y="7573547"/>
            <a:ext cx="2599664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Somake AI(線上)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404226" y="1028700"/>
            <a:ext cx="16855074" cy="891751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995857" y="-101600"/>
            <a:ext cx="4708444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Demo影片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2286" y="3487642"/>
            <a:ext cx="3085034" cy="1665918"/>
          </a:xfrm>
          <a:custGeom>
            <a:avLst/>
            <a:gdLst/>
            <a:ahLst/>
            <a:cxnLst/>
            <a:rect r="r" b="b" t="t" l="l"/>
            <a:pathLst>
              <a:path h="1665918" w="3085034">
                <a:moveTo>
                  <a:pt x="0" y="0"/>
                </a:moveTo>
                <a:lnTo>
                  <a:pt x="3085034" y="0"/>
                </a:lnTo>
                <a:lnTo>
                  <a:pt x="3085034" y="1665918"/>
                </a:lnTo>
                <a:lnTo>
                  <a:pt x="0" y="1665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9269">
            <a:off x="3039007" y="-8900802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319269">
            <a:off x="2560170" y="4718759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154670" y="343909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154670" y="506379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154670" y="3439095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154670" y="428041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243789" y="342585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6257009" y="429412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630210" y="34812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630210" y="51059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630210" y="34812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630210" y="43226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719329" y="34680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732548" y="43363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21237" y="346556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21237" y="5090271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21237" y="346556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521237" y="4306884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3610356" y="3452331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3623575" y="432060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748708" y="3389522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748708" y="501422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748708" y="3389522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748708" y="423083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837827" y="337628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3851047" y="4244555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224248" y="3431724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224248" y="505642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4224248" y="3431724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14224248" y="4273040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313367" y="341848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6326586" y="4286757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115275" y="34159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115275" y="50406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115275" y="34159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9115275" y="42573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1204394" y="34027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11217613" y="42710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4946925" y="3913559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91338" y="3683569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系統架構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與流程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59140" y="3640888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研究動機與目標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40963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037127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資料來源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71223" y="3863671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結果展示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51906">
            <a:off x="14770505" y="5787700"/>
            <a:ext cx="4667958" cy="6941201"/>
          </a:xfrm>
          <a:custGeom>
            <a:avLst/>
            <a:gdLst/>
            <a:ahLst/>
            <a:cxnLst/>
            <a:rect r="r" b="b" t="t" l="l"/>
            <a:pathLst>
              <a:path h="6941201" w="4667958">
                <a:moveTo>
                  <a:pt x="0" y="0"/>
                </a:moveTo>
                <a:lnTo>
                  <a:pt x="4667957" y="0"/>
                </a:lnTo>
                <a:lnTo>
                  <a:pt x="4667957" y="6941200"/>
                </a:lnTo>
                <a:lnTo>
                  <a:pt x="0" y="694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33073" y="392113"/>
            <a:ext cx="1621854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84220"/>
            <a:ext cx="17259300" cy="26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我們的模型在輕度與中度修圖的情況下表現很好，像是輕度磨皮、瘦臉、美白處理，都能成功拉回接近原始的膚色與細節。</a:t>
            </a:r>
          </a:p>
          <a:p>
            <a:pPr algn="l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但如果修圖程度太重，例如五官比例已經被改變、臉型被大幅縮小或拉長、換臉效果，我們的模型就無法還原，效果會變很差。因為重度修圖把真實資訊徹底破壞，照片中已不存在可以被復原的細節，模型只能依據殘留的特徵去推測，因此效果會差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19269">
            <a:off x="3039007" y="-8900802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9269">
            <a:off x="2560170" y="4718759"/>
            <a:ext cx="13970515" cy="13097357"/>
          </a:xfrm>
          <a:custGeom>
            <a:avLst/>
            <a:gdLst/>
            <a:ahLst/>
            <a:cxnLst/>
            <a:rect r="r" b="b" t="t" l="l"/>
            <a:pathLst>
              <a:path h="13097357" w="13970515">
                <a:moveTo>
                  <a:pt x="0" y="0"/>
                </a:moveTo>
                <a:lnTo>
                  <a:pt x="13970514" y="0"/>
                </a:lnTo>
                <a:lnTo>
                  <a:pt x="13970514" y="13097357"/>
                </a:lnTo>
                <a:lnTo>
                  <a:pt x="0" y="1309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154670" y="343909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154670" y="506379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154670" y="3439095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154670" y="428041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6243789" y="342585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6257009" y="429412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630210" y="34812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630210" y="51059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6630210" y="34812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6630210" y="43226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719329" y="34680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8732548" y="43363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521237" y="3465568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21237" y="5090271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21237" y="3465568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521237" y="4306884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3610356" y="3452331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3623575" y="4320601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1748708" y="3389522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748708" y="5014225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748708" y="3389522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1748708" y="4230838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4393475" y="3434215"/>
            <a:ext cx="3085034" cy="1665918"/>
          </a:xfrm>
          <a:custGeom>
            <a:avLst/>
            <a:gdLst/>
            <a:ahLst/>
            <a:cxnLst/>
            <a:rect r="r" b="b" t="t" l="l"/>
            <a:pathLst>
              <a:path h="1665918" w="3085034">
                <a:moveTo>
                  <a:pt x="0" y="0"/>
                </a:moveTo>
                <a:lnTo>
                  <a:pt x="3085033" y="0"/>
                </a:lnTo>
                <a:lnTo>
                  <a:pt x="3085033" y="1665918"/>
                </a:lnTo>
                <a:lnTo>
                  <a:pt x="0" y="1665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7" id="27"/>
          <p:cNvSpPr/>
          <p:nvPr/>
        </p:nvSpPr>
        <p:spPr>
          <a:xfrm>
            <a:off x="13837827" y="337628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3851047" y="4244555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224248" y="3431724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224248" y="5056427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4224248" y="3431724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14224248" y="4273040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313367" y="3418487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6326586" y="4286757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115275" y="3415996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115275" y="5040699"/>
            <a:ext cx="20754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115275" y="3415996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9115275" y="4257312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1204394" y="3402759"/>
            <a:ext cx="812879" cy="841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11217613" y="4271029"/>
            <a:ext cx="812879" cy="7833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4946925" y="3913559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91338" y="3683569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系統架構</a:t>
            </a: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與流程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59140" y="3640888"/>
            <a:ext cx="1823937" cy="108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研究動機與目標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40963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037127" y="3854714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資料來源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71223" y="3863671"/>
            <a:ext cx="1823937" cy="5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00" spc="-1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結果展示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17259300" cy="50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github.com/yingqichao/retouching_FFHQ_detection"/>
              </a:rPr>
              <a:t>https://github.com/yingqichao/retouching_FFHQ_detection</a:t>
            </a:r>
          </a:p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https://arxiv.org/html/2404.18649v1</a:t>
            </a:r>
          </a:p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https://arxiv.org/abs/2002.00133</a:t>
            </a:r>
          </a:p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https://github.com/junyanz/pytorch-CycleGAN-and-pix2pix</a:t>
            </a:r>
          </a:p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https://github.com/xinntao/ESRGAN</a:t>
            </a:r>
          </a:p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https://medium.com/@andy6804tw/%E9%80%9A%E9%81%93%E7%A9%BA%E9%96%93%E6%B3%A8%E6%84%8F%E5%8A%9B-cbam-805deb9ebe1c</a:t>
            </a:r>
          </a:p>
          <a:p>
            <a:pPr algn="l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https://blog.csdn.net/dhaiuda/article/details/103105551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https://blog.csdn.net/weixin_44342777/article/details/136049417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6000" y="2867025"/>
            <a:ext cx="6096000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謝謝大家</a:t>
            </a:r>
          </a:p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DAG5DHCOFRM</dc:identifier>
  <dcterms:modified xsi:type="dcterms:W3CDTF">2011-08-01T06:04:30Z</dcterms:modified>
  <cp:revision>1</cp:revision>
  <dc:title>畢業專題簡報PTT</dc:title>
</cp:coreProperties>
</file>